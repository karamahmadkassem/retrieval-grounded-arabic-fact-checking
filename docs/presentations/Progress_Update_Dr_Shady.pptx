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86" y="-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84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2284A"/>
                </a:solidFill>
                <a:latin typeface="Arial"/>
              </a:rPr>
              <a:t>Chunks by source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Chunks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C44-4A1B-ABC4-B33800868FCE}"/>
              </c:ext>
            </c:extLst>
          </c:dPt>
          <c:dPt>
            <c:idx val="1"/>
            <c:bubble3D val="0"/>
            <c:spPr>
              <a:solidFill>
                <a:srgbClr val="D6A41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44-4A1B-ABC4-B33800868FCE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C44-4A1B-ABC4-B33800868FCE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C44-4A1B-ABC4-B33800868FC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Gold (known sources)</c:v>
                </c:pt>
                <c:pt idx="1">
                  <c:v>Distractor (rest of Wikipedia)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2734211</c:v>
                </c:pt>
                <c:pt idx="1">
                  <c:v>12403992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C44-4A1B-ABC4-B33800868F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8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84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2284A"/>
                </a:solidFill>
                <a:latin typeface="Arial"/>
              </a:rPr>
              <a:t>Recall@1 by judgement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8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Supported</c:v>
                </c:pt>
                <c:pt idx="1">
                  <c:v>Refuted</c:v>
                </c:pt>
                <c:pt idx="2">
                  <c:v>NEI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55.9</c:v>
                </c:pt>
                <c:pt idx="1">
                  <c:v>51.3</c:v>
                </c:pt>
                <c:pt idx="2">
                  <c:v>42.3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7A-4290-ABD5-B3B42CB328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8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8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84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2284A"/>
                </a:solidFill>
                <a:latin typeface="Arial"/>
              </a:rPr>
              <a:t>Recall@1 by gold-match type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A1A-4B0E-B5F6-25530A1628CF}"/>
              </c:ext>
            </c:extLst>
          </c:dPt>
          <c:dPt>
            <c:idx val="1"/>
            <c:invertIfNegative val="0"/>
            <c:bubble3D val="0"/>
            <c:spPr>
              <a:solidFill>
                <a:srgbClr val="D6A41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A1A-4B0E-B5F6-25530A1628C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8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Exact match</c:v>
                </c:pt>
                <c:pt idx="1">
                  <c:v>Fuzzy match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59.1</c:v>
                </c:pt>
                <c:pt idx="1">
                  <c:v>43.2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1A-4B0E-B5F6-25530A1628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8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8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Retrieval-Grounded Arabic Fact-Checking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37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FEVER paper to a working, full-corpus BM25 baseline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Karam Ahmad Kassem  ·  Advisor: Dr. Shady Elbassuoni  ·  American University of Beirut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1722730"/>
            <a:ext cx="395021" cy="3950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600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FEVER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9385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proven template our approach is built 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50" y="2637130"/>
            <a:ext cx="395021" cy="39502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514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0: Trusting the data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852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ARAFA's claims actually map to real Wikipedia evidence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50" y="3551530"/>
            <a:ext cx="395021" cy="39502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429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retrieval corpus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7673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strategy, a bug we caught, and the final corpus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icon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50" y="4465930"/>
            <a:ext cx="395021" cy="39502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4343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 baseline results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371600" y="46817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real, full-corpus retrieval numbers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5303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icon_fla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50" y="5380330"/>
            <a:ext cx="395021" cy="3950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71600" y="5257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371600" y="5596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retrieval, and where Octopus access fits in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We're Closing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657600" cy="4480560"/>
          </a:xfrm>
          <a:prstGeom prst="roundRect">
            <a:avLst>
              <a:gd name="adj" fmla="val 3000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7452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734" y="2218334"/>
            <a:ext cx="592531" cy="59253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STEPS IN ARAFA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74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754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handed its correct evidence directly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81051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727448" y="1682496"/>
            <a:ext cx="6976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ARAFA tests verification only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727448" y="2029968"/>
            <a:ext cx="6976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comes pre-paired with its gold evidence — the model never has to search for it.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34840" y="32278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727448" y="3099816"/>
            <a:ext cx="6976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fact-checking is retrieve-then-verify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727448" y="3447288"/>
            <a:ext cx="6976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system must first find relevant evidence from a huge corpus, then judge it.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434840" y="464515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727448" y="4517136"/>
            <a:ext cx="6976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missing first step is our thesis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727448" y="4864608"/>
            <a:ext cx="6976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and evaluating the retrieval layer ARAFA never tested — turning it into a full pipeline benchmark.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WE'RE FOLLOWING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Looked at FEVER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FEVER's 3-Stage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2615184"/>
            <a:ext cx="411480" cy="164592"/>
          </a:xfrm>
          <a:prstGeom prst="rightArrow">
            <a:avLst/>
          </a:prstGeom>
          <a:solidFill>
            <a:srgbClr val="D9D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0" y="210312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560320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2615184"/>
            <a:ext cx="411480" cy="164592"/>
          </a:xfrm>
          <a:prstGeom prst="rightArrow">
            <a:avLst/>
          </a:prstGeom>
          <a:solidFill>
            <a:srgbClr val="D9D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210312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63440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5661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retrieval + verification pipeline follows this exact structure — adapted for Arabic Wikipedia and ARAFA's claims.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526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 they defined: FEVER Score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8463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only counts as correct if BOTH the label AND the retrieved evidence are right — not label accuracy alone.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03720" y="1600200"/>
            <a:ext cx="4800600" cy="4480560"/>
          </a:xfrm>
          <a:prstGeom prst="roundRect">
            <a:avLst>
              <a:gd name="adj" fmla="val 2449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178040" y="18745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FEVER's own finding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3774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5A5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50.91%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30632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Accuracy (evidence ignored)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365760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31.87%</a:t>
            </a:r>
            <a:endParaRPr lang="en-US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3434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Score (evidence required)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78040" y="4937760"/>
            <a:ext cx="4251960" cy="0"/>
          </a:xfrm>
          <a:prstGeom prst="line">
            <a:avLst/>
          </a:prstGeom>
          <a:noFill/>
          <a:ln w="12700">
            <a:solidFill>
              <a:srgbClr val="D9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178040" y="512064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~19-point drop once retrieval errors are counted — the exact oracle-vs-real gap this thesis measures for Arabic.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6-Phase Roadmap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 right now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42316" y="20116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194560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2316" y="2697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88036" y="2999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42316" y="3794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33956" y="2775204"/>
            <a:ext cx="310896" cy="164592"/>
          </a:xfrm>
          <a:prstGeom prst="rightArrow">
            <a:avLst/>
          </a:prstGeom>
          <a:solidFill>
            <a:srgbClr val="D9D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44852" y="20116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2194560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44852" y="2697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290572" y="2999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2244852" y="3794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936492" y="2775204"/>
            <a:ext cx="310896" cy="164592"/>
          </a:xfrm>
          <a:prstGeom prst="rightArrow">
            <a:avLst/>
          </a:prstGeom>
          <a:solidFill>
            <a:srgbClr val="D9D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247388" y="20116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AEB4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_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2194560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247388" y="2697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293108" y="2999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Retrieval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247388" y="3794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939028" y="2775204"/>
            <a:ext cx="310896" cy="164592"/>
          </a:xfrm>
          <a:prstGeom prst="rightArrow">
            <a:avLst/>
          </a:prstGeom>
          <a:solidFill>
            <a:srgbClr val="D9D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249924" y="20116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AEB4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194560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249924" y="2697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295644" y="2999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6249924" y="3794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941564" y="2775204"/>
            <a:ext cx="310896" cy="164592"/>
          </a:xfrm>
          <a:prstGeom prst="rightArrow">
            <a:avLst/>
          </a:prstGeom>
          <a:solidFill>
            <a:srgbClr val="D9D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8252460" y="20116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AEB4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icon_warn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0536" y="2194560"/>
            <a:ext cx="475488" cy="47548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252460" y="2697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8298180" y="2999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8252460" y="3794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9944100" y="2775204"/>
            <a:ext cx="310896" cy="164592"/>
          </a:xfrm>
          <a:prstGeom prst="rightArrow">
            <a:avLst/>
          </a:prstGeom>
          <a:solidFill>
            <a:srgbClr val="D9D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10254996" y="2011680"/>
            <a:ext cx="1691640" cy="1691640"/>
          </a:xfrm>
          <a:prstGeom prst="roundRect">
            <a:avLst>
              <a:gd name="adj" fmla="val 5405"/>
            </a:avLst>
          </a:prstGeom>
          <a:solidFill>
            <a:srgbClr val="AEB4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icon_fla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072" y="2194560"/>
            <a:ext cx="475488" cy="47548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254996" y="2697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0300716" y="2999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Writing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0254996" y="3794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covers everything completed in Phase 0, and the first result now available in Phase 1.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STEP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Source Mapping Real?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5166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474" y="2120494"/>
            <a:ext cx="559613" cy="55961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91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3,317 / 3,318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Wikipedia sources resolved to real articles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76479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90288" y="1636776"/>
            <a:ext cx="7114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every unique source ID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90288" y="1984248"/>
            <a:ext cx="7114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ARAFA's 3,318 Wikipedia page IDs was queried against the live Wikipedia API.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97680" y="309067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590288" y="2962656"/>
            <a:ext cx="7114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permanently missing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90288" y="3310128"/>
            <a:ext cx="7114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Chased it through the Wayback Machine — no archived snapshot ever existed. Genuinely, permanently gone.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97680" y="441655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590288" y="4288536"/>
            <a:ext cx="7114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0.03% loss — negligible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90288" y="4636008"/>
            <a:ext cx="7114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 a known limitation and excluded going forward. No further chasing needed.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STEP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Evidence Still Exist?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5166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474" y="2120494"/>
            <a:ext cx="559613" cy="55961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516380" y="3195828"/>
            <a:ext cx="1447800" cy="142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</a:p>
          <a:p>
            <a:pPr algn="ctr"/>
            <a:r>
              <a:rPr lang="en-US" sz="1100" b="1" kern="0" spc="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200-CLAIM PILOT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731520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found in live Wikipedia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92240" y="1837944"/>
            <a:ext cx="3092958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1612880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61.5%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92240" y="2432304"/>
            <a:ext cx="1885950" cy="256032"/>
          </a:xfrm>
          <a:prstGeom prst="roundRect">
            <a:avLst>
              <a:gd name="adj" fmla="val 17857"/>
            </a:avLst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1161288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29768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92240" y="3026664"/>
            <a:ext cx="50292" cy="256032"/>
          </a:xfrm>
          <a:prstGeom prst="roundRect">
            <a:avLst>
              <a:gd name="adj" fmla="val 90909"/>
            </a:avLst>
          </a:prstGeom>
          <a:solidFill>
            <a:srgbClr val="5A5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161288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297680" y="3794760"/>
            <a:ext cx="7406640" cy="1371600"/>
          </a:xfrm>
          <a:prstGeom prst="roundRect">
            <a:avLst>
              <a:gd name="adj" fmla="val 6667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526280" y="39319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told us: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26280" y="4224528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Wikipedia is good enough to build on — we did NOT need to track down an old, historical Wikipedia dump from whenever ARAFA was originally built.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‘Fuzzy’ Matching Was Necessary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ARAFA's Evidence (original)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...أبُو جعفر هارُون الرَّشيد بن مُحمَّد المَهْدي بن عبد الله المَنْصُور بن مُحمَّد بن علي بن عبد الله بن العبَّاس بن عبد المُطَّلب الهاشميُّ القُرشيُّ...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37960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Wikipedia (today)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7744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...أبُو جَعْفَرٍ هارُونُ الرَّشيدُ بْنُ مُحمَّدٍ المِهديِّ بْنِ عبدِ اللهِ المَنْصُورِ بْنِ مُحمَّدِ بْنِ عليِّ بْنِ عبدِ اللهِ بْنِ العبَّاسِ القُرَشيُّ الهاشِميُّ...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12064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31520" y="51206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person, same fact — but the wording shifted (an ancestor's name dropped, word order swapped). Wikipedia keeps getting edited after a dataset is built, so exact string-matching alone would have missed this.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Cut Up Articles?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9" y="208208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029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100–400 word chunks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889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slicing a sentence in half mid-thought — an arbitrary word count doesn't respect where one idea ends and another begins.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83680" y="201168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089" y="208208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2029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windows (1–3 sentences)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7889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FEVER's own approach almost exactly. Respects natural meaning boundaries, and handles both single-sentence and short multi-sentence evidence.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found sentence-level chunking works specifically well for encyclopedia-style writing — exactly our corpus.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COMPLETE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Answer Key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51660" y="2011680"/>
            <a:ext cx="777240" cy="77724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474" y="2120494"/>
            <a:ext cx="559613" cy="55961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91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181,928 claims matched to an exact chunk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92240" y="1929384"/>
            <a:ext cx="2382469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69848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105,398  (57.9%)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92240" y="2569464"/>
            <a:ext cx="1596542" cy="256032"/>
          </a:xfrm>
          <a:prstGeom prst="roundRect">
            <a:avLst>
              <a:gd name="adj" fmla="val 17857"/>
            </a:avLst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1069848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70,628  (38.8%)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29768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(excluded)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92240" y="3209544"/>
            <a:ext cx="131674" cy="256032"/>
          </a:xfrm>
          <a:prstGeom prst="roundRect">
            <a:avLst>
              <a:gd name="adj" fmla="val 34722"/>
            </a:avLst>
          </a:prstGeom>
          <a:solidFill>
            <a:srgbClr val="5A5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069848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5,902  (3.2%)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297680" y="4023360"/>
            <a:ext cx="7406640" cy="1371600"/>
          </a:xfrm>
          <a:prstGeom prst="roundRect">
            <a:avLst>
              <a:gd name="adj" fmla="val 6667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526280" y="40233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ground truth every retrieval experiment — BM25, dense, hybrid — gets scored against for the rest of the thesis.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RIGOR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Bug We Caught Before It Cost 40 Hours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8076" y="18288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79676" y="2103120"/>
            <a:ext cx="640080" cy="640080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287" y="219273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6676" y="3246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random Wikipedia articles gave only a ~2% hit rate — looked like 98% of articles were empty.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91356" y="3163824"/>
            <a:ext cx="411480" cy="164592"/>
          </a:xfrm>
          <a:prstGeom prst="rightArrow">
            <a:avLst/>
          </a:prstGeom>
          <a:solidFill>
            <a:srgbClr val="D9D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402836" y="18288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74436" y="2103120"/>
            <a:ext cx="640080" cy="640080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_b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047" y="219273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85716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631436" y="3246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Wikipedia's API has a hard server-side limit: only 1 full article per batch request — confirmed against MediaWiki's own docs.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86116" y="3163824"/>
            <a:ext cx="411480" cy="164592"/>
          </a:xfrm>
          <a:prstGeom prst="rightArrow">
            <a:avLst/>
          </a:prstGeom>
          <a:solidFill>
            <a:srgbClr val="D9D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197596" y="182880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569196" y="2103120"/>
            <a:ext cx="640080" cy="64008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_wr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807" y="2192731"/>
            <a:ext cx="460858" cy="46085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80476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426196" y="3246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downloading the full offline Wikipedia dump (WikiExtractor) — no API limits, no rate limits, far faster.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discipline throughout Phase 0: verify on a small sample before trusting anything at full scale.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 HAYSTACK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Retrieval Corpus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737360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995160" y="18470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ARTICLES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995160" y="2103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1,322,604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766560" y="2761488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995160" y="28712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CHUNKS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31272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12,403,992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766560" y="3785616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995160" y="38953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CHUNKS (KNOWN SOURCES)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41513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2,734,211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766560" y="4809744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995160" y="4919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CHUNKS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5175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15,138,203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587959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1.3M distractor articles make this a genuine haystack — not a shortlist of already-known-relevant articles.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RETRIEVAL RESULT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 Baseline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2336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02336" y="2286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52.7%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02336" y="3474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28416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328416" y="2286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84.7%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28416" y="3474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254496" y="2286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91.5%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3474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80576" y="19202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180576" y="22860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0.657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3474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across all 176,026 scorable claims, against the full 15.1M-chunk corpus — not a small sample.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future retrieval method (dense, hybrid) is measured against this exact number.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BM25 STRUGGLES · 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Claim Type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73736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67512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 claims are the clear weak spot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2560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 points lower Recall@1 than supported claims (42.3% vs. 55.9%).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32004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Refuted claims are only slightly harder than supported ones (−4.6 points) — the real gap is specifically NEI.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4114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NEI claims often lack one clean, directly supporting passage in the source article — there may be less for keyword matching to latch onto.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BM25 STRUGGLES · STRONGEST FINDING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Wikipedia Drift Hurts Retrieval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73736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67512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16-POINT GAP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2286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whose evidence had drifted (fuzzy match) retrieve 16 points worse at Recall@1 than claims with an exact match.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37490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67512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out an alternative explanation: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43434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Claim–evidence word overlap is nearly identical between the two groups (0.533 vs. 0.537) — so this isn't about claims being differently worded. It's the Wikipedia CORPUS that changed, not the claims.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Know So Far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61848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53619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mapping is solid — 99.97% of gold labels resolve cleanly in the retrieval corpus.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39572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231343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FEVER-style sentence-window chunking works well for Arabic Wikipedia — validated at both pilot and full scale.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17296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0906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Full-corpus BM25 baseline: 91.5% Recall@10, 0.657 MRR across 176,026 claims and 15.1M chunks.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950208"/>
            <a:ext cx="329184" cy="3291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386791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 claims and drifted (‘fuzzy’) evidence are the two hardest, most specific weak spots — clear targets for dense retrieval.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727448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34440" y="464515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refutations (changed numbers) are the hardest mutation type — a specific limitation of keyword-only matching.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548640" y="544068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5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5504688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34440" y="542239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here feeds directly into later phases — nothing here is throwaway analysis.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Retrieval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4937760" cy="3566160"/>
          </a:xfrm>
          <a:prstGeom prst="roundRect">
            <a:avLst>
              <a:gd name="adj" fmla="val 3077"/>
            </a:avLst>
          </a:prstGeom>
          <a:solidFill>
            <a:srgbClr val="2A3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88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Gap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290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 improve on BM25's two weak spots: fuzzy-match (drifted) evidence and NEI claims — without regressing supported claims.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23774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327648" y="2240280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dense embeddings (BGE-M3 / multilingual-E5) over the full 15.1M-chunk corpus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34290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27648" y="3291840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FAISS index and re-run Recall@k / MRR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448056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27648" y="4343400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head-to-head against this exact BM25 baseline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548640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263640" y="54864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ON: Octopus (AUB HPC) GPU access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1327</Words>
  <Application>Microsoft Office PowerPoint</Application>
  <PresentationFormat>Widescreen</PresentationFormat>
  <Paragraphs>203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Karam Ahmad Kassem (Student)</cp:lastModifiedBy>
  <cp:revision>4</cp:revision>
  <dcterms:created xsi:type="dcterms:W3CDTF">2026-09-15T03:07:09Z</dcterms:created>
  <dcterms:modified xsi:type="dcterms:W3CDTF">2026-09-17T07:23:43Z</dcterms:modified>
</cp:coreProperties>
</file>